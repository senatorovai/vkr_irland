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25 sec]
</a:t>
            </a:r>
            <a:endParaRPr sz="1100" b="1"/>
          </a:p>
          <a:p>
            <a:r>
              <a:rPr sz="1300"/>
              <a:t>Good morning. My name is Meerim Zhenishbekova, and this is my MSc Capstone — Livestock Classification and Counting from Real Imagery. I trained four CNN classifiers and one YOLOv8 detector to tell cattle from sheep on drone and ground-level photos, and to count animals in each frame. I will walk you through the pipeline, the comparison, and the parts I found surprising.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40 sec]
</a:t>
            </a:r>
            <a:endParaRPr sz="1100" b="1"/>
          </a:p>
          <a:p>
            <a:r>
              <a:rPr sz="1300"/>
              <a:t>Manual livestock counting on farms or in welfare studies is slow and inconsistent between observers. The question I asked was simple: can a small CNN trained from scratch compete with ImageNet-pretrained backbones on a domain that ImageNet was not built for, and can we count animals reliably when the herd is dense. I framed three concrete hypotheses. H1 — do pretrained models always beat a custom baseline. H2 — does augmentation actually help at this scale of data. H3 — does YOLO counting beat naive predictors like always predicting the mean count.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40 sec]
</a:t>
            </a:r>
            <a:endParaRPr sz="1100" b="1"/>
          </a:p>
          <a:p>
            <a:r>
              <a:rPr sz="1300"/>
              <a:t>I merged two datasets that look very different. WAID is 14,366 drone images with six wildlife classes — I dropped four non-farm classes such as camel, kiang, seal, zebra. COCO 2017 cow and sheep subset adds 3,393 ground-level photos. Total clean set: 12,232 images. I made a stratified 70/15/15 split, so 8,562 for training, 1,835 for validation, 1,835 for test. From these I cropped 51,320 single-animal patches for the classifier, capped at five per image. Class balance came out 52% cattle, 48% sheep — almost ideal, no resampling needed.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45 sec]
</a:t>
            </a:r>
            <a:endParaRPr sz="1100" b="1"/>
          </a:p>
          <a:p>
            <a:r>
              <a:rPr sz="1300"/>
              <a:t>For classification I trained four models on identical splits: a custom CNN built from scratch with 8.8 million parameters, plus three pretrained backbones — ResNet50, VGG16 and MobileNetV2 — using feature extraction with a frozen backbone. Hyperparameters were tuned with Optuna: 15 trials for the custom CNN, 6 trials for each transfer model. For detection I trained YOLOv8n on a Kaggle T4 GPU for 30 epochs. To answer questions about robustness, I auto-labelled every test image with two subgroups: lighting from HSV brightness, and occlusion from pairwise bounding-box IoU.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60 sec]
</a:t>
            </a:r>
            <a:endParaRPr sz="1100" b="1"/>
          </a:p>
          <a:p>
            <a:r>
              <a:rPr sz="1300"/>
              <a:t>Here are the four models on the 7,744-crop test set. VGG16 wins at 97.38% accuracy. My custom CNN is second at 96.10%. ResNet50 third at 95.70%. MobileNetV2 last at 94.98%. Two pretrained models — ResNet50 and MobileNetV2 — actually lost to my baseline trained from scratch. McNemar tests confirm this is not noise: VGG16 is significantly better than every other model with p below 10⁻⁸. Custom CNN versus ResNet50 is statistically a tie, p equals 0.15. So Hypothesis 1 is only partially supported — pretrained does not automatically win. Optuna importance also explained why this works: learning rate alone accounts for 37% of performance variance, more than every architectural choice combined. How you train matters more than what you train.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25 sec]
</a:t>
            </a:r>
            <a:endParaRPr sz="1100" b="1"/>
          </a:p>
          <a:p>
            <a:r>
              <a:rPr sz="1300"/>
              <a:t>Here are the four confusion matrices on the same 7,744-crop test set, side by side. VGG16 makes only 64 cattle-as-sheep mistakes and 139 sheep-as-cattle mistakes — 203 in total. MobileNetV2 makes nearly twice as many: 389. Errors are roughly symmetric for every model, so there is no class bias to correct. This visually confirms the ranking from the previous slide.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50 sec]
</a:t>
            </a:r>
            <a:endParaRPr sz="1100" b="1"/>
          </a:p>
          <a:p>
            <a:r>
              <a:rPr sz="1300"/>
              <a:t>YOLOv8n on the 1,835-image test set gives mAP at 0.5 of 94.78% and mAP at 0.5 to 0.95 of 60.07%. For counting, mean absolute error per image is 1.58 animals, and the correlation R-squared between predicted and true count is 0.97. Exact match — predicting the right count to the animal — is 47%. Compared to a naive predictor that always outputs the median count, MAE drops from 11.96 to 1.58, so Hypothesis 3 is clearly supported. The big failure mode shows up under crowding: on dense scenes with high occlusion, MAE jumps to 3.56, more than five times worse than on sparse scenes. Non-Max Suppression treats overlapping boxes as duplicates and the model under-counts.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55 sec]
</a:t>
            </a:r>
            <a:endParaRPr sz="1100" b="1"/>
          </a:p>
          <a:p>
            <a:r>
              <a:rPr sz="1300"/>
              <a:t>Per-subgroup numbers tell a clear story. VGG16 stays around 97% across dim, overcast and bright lighting — the most stable model in every condition. MobileNetV2 drops to 91.8% on bright scenes, probably because high-contrast lighting introduces noise that a shallow architecture struggles to filter. Surprisingly, dim images are slightly easier than bright ones for most models, possibly because dark scenes have fewer high-frequency artefacts. For counting, occlusion is the single dominant factor — far more than lighting. Verdict on hypotheses. H1 partially supported: only VGG16 of three pretrained models beat the baseline. H2 supported: augmentation adds 0.62 percentage points. H3 strongly supported: YOLO is roughly seven times more accurate than the naive predictor.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30 sec]
</a:t>
            </a:r>
            <a:endParaRPr sz="1100" b="1"/>
          </a:p>
          <a:p>
            <a:r>
              <a:rPr sz="1300"/>
              <a:t>A few honest deviations. I used YOLOv8n, the smallest variant — bigger versions might add 1 to 2 points of mAP but training time triples. Transfer models used feature extraction, not fine-tuning, to keep compute fair. Optuna trial counts were modest: 15 for custom, 6 for transfer; the importance landscape had already stabilised. Subgroup labels are auto-generated from HSV and IoU, not human-labelled — reproducible but coarser than manual annotation. Every deviation is documented in WORK_LOG.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b="1"/>
              <a:t>[≈ 35 sec]
</a:t>
            </a:r>
            <a:endParaRPr sz="1100" b="1"/>
          </a:p>
          <a:p>
            <a:r>
              <a:rPr sz="1300"/>
              <a:t>Three takeaways. First, a small CNN trained from scratch is competitive with ImageNet-pretrained backbones on a domain ImageNet did not see. Second, learning rate dominates architecture in this regime. Third, occlusion, not lighting, is the bottleneck for counting. Future work: try YOLOv8s or YOLOv11, fine-tune the last blocks of ResNet and MobileNet for a fairer comparison, and replace bbox-based counting with density estimation for dense herds. Thank you. I am happy to take your questions.</a:t>
            </a:r>
            <a:endParaRPr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Livestock Classification &amp; Counting from Real Imagery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MSc Capstone — Meerim Zhenishbekova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MSc Data Analytics Capstone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Author: Meerim Zhenishbekova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Cattle vs sheep — drone &amp; ground-level photos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4 CNN classifiers + YOLOv8 detector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~25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Problem &amp; Research Questions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Why this matters and what I asked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Manual counting is slow and inconsistent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H1: Pretrained models always beat a custom baseline?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H2: Does augmentation actually help at this data scale?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H3: Does YOLO counting beat naive predictors?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~40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Dataset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WAID + COCO 2017 — merged into one livestock corpus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WAID drones: 14,366 images (4 non-farm classes dropped)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COCO 2017 cow + sheep: 3,393 ground-level images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Clean total: 12,232 images, stratified 70 / 15 / 15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51,320 single-animal crops, 52% cattle / 48% sheep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~40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4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Methodology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Four classifiers, one detector, Optuna-tuned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Custom CNN from scratch (8.8 M params)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Transfer (frozen): ResNet50, VGG16, MobileNetV2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YOLOv8n trained on Kaggle T4, 30 epochs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Optuna HP tuning + auto subgroup labels (lighting, occlusion)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~45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5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Classification Results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VGG16 wins, but the custom CNN is second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VGG16   — 97.38%   (best across all conditions)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Custom CNN — 96.10%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ResNet50 — 95.70%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MobileNetV2 — 94.98%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McNemar: VGG16 better than all (p &lt; 1e-8); CNN ≈ ResNet50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~60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6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Confusion Matrices — All 4 Models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Same test set (7,744 crops) — errors side by side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b07_cell03_out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7" y="2331720"/>
            <a:ext cx="10515600" cy="26964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256778"/>
            <a:ext cx="10332720" cy="105258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B3A"/>
                </a:solidFill>
              </a:rPr>
              <a:t>•   VGG16: only 64 + 139 = 203 errors (cleanest)</a:t>
            </a:r>
            <a:endParaRPr sz="1600">
              <a:solidFill>
                <a:srgbClr val="222B3A"/>
              </a:solidFill>
            </a:endParaRP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B3A"/>
                </a:solidFill>
              </a:rPr>
              <a:t>•   Custom CNN: 139 + 163 = 302 errors</a:t>
            </a:r>
            <a:endParaRPr sz="1600">
              <a:solidFill>
                <a:srgbClr val="222B3A"/>
              </a:solidFill>
            </a:endParaRP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B3A"/>
                </a:solidFill>
              </a:rPr>
              <a:t>•   Errors are roughly symmetric — no single class is dominant</a:t>
            </a:r>
            <a:endParaRPr sz="1600">
              <a:solidFill>
                <a:srgbClr val="222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~25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7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Detection &amp; Counting (YOLOv8n)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Strong overall, weak under crowding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mAP@50 = 94.78%, mAP@50–95 = 60.07%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Counting MAE = 1.58 / image, R² = 0.97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Exact-count match: 47% of test images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MAE jumps 5.5× under high occlusion (NMS suppresses overlapping boxes)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~50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8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Robustness &amp; Hypotheses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Per-subgroup analysis — and the verdict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VGG16 stays ~97% on dim / overcast / bright lighting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MobileNetV2 drops to 91.8% on bright (high contrast hurts shallow nets)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Counting: occlusion dominates, lighting is secondary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H1 partial • H2 supported (+0.62 pp) • H3 strongly supported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~55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9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Limitations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Honest deviations from an ideal study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YOLOv8n only (smallest variant) — bigger ones triple training time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Transfer used feature extraction, not fine-tuning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Optuna budget: 15 / 6 trials (importance had stabilised)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Subgroup labels auto-generated, not human-annotated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~30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45720"/>
            <a:ext cx="7772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10 / 10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400" b="1">
                <a:solidFill>
                  <a:srgbClr val="1F3A68"/>
                </a:solidFill>
              </a:rPr>
              <a:t>Conclusions &amp; Future Work</a:t>
            </a:r>
            <a:endParaRPr sz="3400" b="1">
              <a:solidFill>
                <a:srgbClr val="1F3A6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i="1">
                <a:solidFill>
                  <a:srgbClr val="555555"/>
                </a:solidFill>
              </a:rPr>
              <a:t>Three takeaways and what comes next</a:t>
            </a:r>
            <a:endParaRPr sz="1800" i="1">
              <a:solidFill>
                <a:srgbClr val="55555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4114800"/>
          </a:xfrm>
          <a:prstGeom prst="rect">
            <a:avLst/>
          </a:prstGeom>
          <a:solidFill>
            <a:srgbClr val="F2F4F8"/>
          </a:solidFill>
          <a:ln>
            <a:solidFill>
              <a:srgbClr val="D0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Custom CNN is competitive on a non-ImageNet domain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Learning rate beats architecture (Optuna 37%)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Occlusion, not lighting, is the counting bottleneck</a:t>
            </a:r>
            <a:endParaRPr sz="2200">
              <a:solidFill>
                <a:srgbClr val="222B3A"/>
              </a:solidFill>
            </a:endParaRP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</a:rPr>
              <a:t>•   Next: YOLOv8s/v11, fine-tuning, density-based counting</a:t>
            </a:r>
            <a:endParaRPr sz="2200">
              <a:solidFill>
                <a:srgbClr val="222B3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Speak time: ~35 sec   |   Meerim Zhenishbekova — MSc Capstone</a:t>
            </a:r>
            <a:endParaRPr sz="1100" i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3321</Words>
  <Application>WPS Presentation</Application>
  <PresentationFormat>On-screen Show (4:3)</PresentationFormat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Антон Иванов</cp:lastModifiedBy>
  <cp:revision>2</cp:revision>
  <dcterms:created xsi:type="dcterms:W3CDTF">2026-05-04T14:09:20Z</dcterms:created>
  <dcterms:modified xsi:type="dcterms:W3CDTF">2026-05-04T14:09:20Z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0CCAF3F083C8AAE990A8F869197B93AE_42</vt:lpwstr>
  </property>
  <property fmtid="{D5CDD505-2E9C-101B-9397-08002B2CF9AE}" pid="3" name="KSOProductBuildVer">
    <vt:lpwstr>1033-12.1.25867.25867</vt:lpwstr>
  </property>
</Properties>
</file>