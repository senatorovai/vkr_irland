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morning. My name is Meerim Zhenishbekova, and this is my MSc Capstone — Livestock Classification and Counting from Real Imagery. I trained four CNN classifiers and one YOLOv8 detector to tell cattle from sheep on drone and ground-level photos, and to count animals in each frame. I will walk you through the pipeline, the comparison, and the parts I found surprising.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Manual livestock counting on farms or in welfare studies is slow and inconsistent between observers. The question I asked was simple: can a small CNN trained from scratch compete with ImageNet-pretrained backbones on a domain that ImageNet was not built for, and can we count animals reliably when the herd is dense. I framed three concrete hypotheses. H1 — do pretrained models always beat a custom baseline. H2 — does augmentation actually help at this scale of data. H3 — does YOLO counting beat naive predictors like always predicting the mean 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merged two datasets that look very different. WAID is 14,366 drone images with six wildlife classes — I dropped four non-farm classes such as camel, kiang, seal, zebra. COCO 2017 cow and sheep subset adds 3,393 ground-level photos. Total clean set: 12,232 images. I made a stratified 70/15/15 split, so 8,562 for training, 1,835 for validation, 1,835 for test. From these I cropped 51,320 single-animal patches for the classifier, capped at five per image. Class balance came out 52% cattle, 48% sheep — almost ideal, no resampling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classification I trained four models on identical splits: a custom CNN built from scratch with 8.8 million parameters, plus three pretrained backbones — ResNet50, VGG16 and MobileNetV2 — using feature extraction with a frozen backbone. Hyperparameters were tuned with Optuna: 15 trials for the custom CNN, 6 trials for each transfer model. For detection I trained YOLOv8n on a Kaggle T4 GPU for 30 epochs. To answer questions about robustness, I auto-labelled every test image with two subgroups: lighting from HSV brightness, and occlusion from pairwise bounding-box IoU.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are the four models on the 7,744-crop test set. VGG16 wins at 97.38% accuracy. My custom CNN is second at 96.10%. ResNet50 third at 95.70%. MobileNetV2 last at 94.98%. Two pretrained models — ResNet50 and MobileNetV2 — actually lost to my baseline trained from scratch. McNemar tests confirm this is not noise: VGG16 is significantly better than every other model with p below 10⁻⁸. Custom CNN versus ResNet50 is statistically a tie, p equals 0.15. So Hypothesis 1 is only partially supported — pretrained does not automatically win. Optuna importance also explained why this works: learning rate alone accounts for 37% of performance variance, more than every architectural choice combined. How you train matters more than what you train.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are the four confusion matrices on the same 7,744-crop test set, side by side. VGG16 makes only 64 cattle-as-sheep mistakes and 139 sheep-as-cattle mistakes — 203 in total. MobileNetV2 makes nearly twice as many: 389. Errors are roughly symmetric for every model, so there is no class bias to correct. This visually confirms the ranking from the previous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YOLOv8n on the 1,835-image test set gives mAP at 0.5 of 94.78% and mAP at 0.5 to 0.95 of 60.07%. For counting, mean absolute error per image is 1.58 animals, and the correlation R-squared between predicted and true count is 0.97. Exact match — predicting the right count to the animal — is 47%. Compared to a naive predictor that always outputs the median count, MAE drops from 11.96 to 1.58, so Hypothesis 3 is clearly supported. The big failure mode shows up under crowding: on dense scenes with high occlusion, MAE jumps to 3.56, more than five times worse than on sparse scenes. Non-Max Suppression treats overlapping boxes as duplicates and the model under-counts.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Per-subgroup numbers tell a clear story. VGG16 stays around 97% across dim, overcast and bright lighting — the most stable model in every condition. MobileNetV2 drops to 91.8% on bright scenes, probably because high-contrast lighting introduces noise that a shallow architecture struggles to filter. Surprisingly, dim images are slightly easier than bright ones for most models, possibly because dark scenes have fewer high-frequency artefacts. For counting, occlusion is the single dominant factor — far more than lighting. Verdict on hypotheses. H1 partially supported: only VGG16 of three pretrained models beat the baseline. H2 supported: augmentation adds 0.62 percentage points. H3 strongly supported: YOLO is roughly seven times more accurate than the naive predictor.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few honest deviations. I used YOLOv8n, the smallest variant — bigger versions might add 1 to 2 points of mAP but training time triples. Transfer models used feature extraction, not fine-tuning, to keep compute fair. Optuna trial counts were modest: 15 for custom, 6 for transfer; the importance landscape had already stabilised. Subgroup labels are auto-generated from HSV and IoU, not human-labelled — reproducible but coarser than manual annotation. Every deviation is documented in WORK_LOG.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takeaways. First, a small CNN trained from scratch is competitive with ImageNet-pretrained backbones on a domain ImageNet did not see. Second, learning rate dominates architecture in this regime. Third, occlusion, not lighting, is the bottleneck for counting. Future work: try YOLOv8s or YOLOv11, fine-tune the last blocks of ResNet and MobileNet for a fairer comparison, and replace bbox-based counting with density estimation for dense herds. Thank you. I am happy to take your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0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19200" y="914400"/>
            <a:ext cx="533400" cy="533400"/>
          </a:xfrm>
          <a:prstGeom prst="rect">
            <a:avLst/>
          </a:prstGeom>
          <a:solidFill>
            <a:srgbClr val="14171A"/>
          </a:solidFill>
        </p:spPr>
      </p:sp>
      <p:sp>
        <p:nvSpPr>
          <p:cNvPr id="3" name="Text 1"/>
          <p:cNvSpPr/>
          <p:nvPr/>
        </p:nvSpPr>
        <p:spPr>
          <a:xfrm>
            <a:off x="1181100" y="914400"/>
            <a:ext cx="609600" cy="571500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650" kern="0" spc="270" dirty="0">
                <a:solidFill>
                  <a:srgbClr val="C9C6B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МZ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924050" y="1047750"/>
            <a:ext cx="8504387" cy="3048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kern="0" spc="270" dirty="0">
                <a:solidFill>
                  <a:srgbClr val="C9C6B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MEERIM ZHENISHBEKOVA · MSC DATA ANALYTICS CAPSTONE · 2026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19200" y="1991246"/>
            <a:ext cx="16325088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243" dirty="0">
                <a:solidFill>
                  <a:srgbClr val="8A87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SLIDE </a:t>
            </a:r>
            <a:r>
              <a:rPr lang="en-US" sz="1350" kern="0" spc="243" dirty="0">
                <a:solidFill>
                  <a:srgbClr val="F2F0EC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01 </a:t>
            </a:r>
            <a:r>
              <a:rPr lang="en-US" sz="1350" kern="0" spc="243" dirty="0">
                <a:solidFill>
                  <a:srgbClr val="8A87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· 10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219200" y="2574131"/>
            <a:ext cx="16325088" cy="47196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0" kern="0" spc="96" dirty="0">
                <a:solidFill>
                  <a:srgbClr val="F2F0EC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LIVESTOCK CLASSIFICATION &amp; COUNTING </a:t>
            </a:r>
            <a:r>
              <a:rPr lang="en-US" sz="9000" kern="0" spc="96" dirty="0">
                <a:solidFill>
                  <a:srgbClr val="8A87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FROM REAL IMAGERY</a:t>
            </a:r>
            <a:endParaRPr lang="en-US" sz="9000" kern="0" spc="96" dirty="0">
              <a:solidFill>
                <a:srgbClr val="8A8780"/>
              </a:solidFill>
              <a:latin typeface="Arial" panose="020B0704020202020204" pitchFamily="34" charset="0"/>
              <a:ea typeface="Arial" panose="020B0704020202020204" pitchFamily="34" charset="-122"/>
              <a:cs typeface="Arial" panose="020B07040202020202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19200" y="7810500"/>
            <a:ext cx="10791825" cy="81661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6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3000" dirty="0">
                <a:solidFill>
                  <a:srgbClr val="C9C6B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Cattle vs sheep on drone &amp; ground photos — four CNN classifiers and a YOLOv8 detector, head to head.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219200" y="9132615"/>
            <a:ext cx="648519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54" dirty="0">
                <a:solidFill>
                  <a:srgbClr val="8A87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01 / 10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0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914400"/>
            <a:ext cx="1488728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243" dirty="0">
                <a:solidFill>
                  <a:srgbClr val="C8FF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§ 02 </a:t>
            </a:r>
            <a:r>
              <a:rPr lang="en-US" sz="1350" kern="0" spc="243" dirty="0">
                <a:solidFill>
                  <a:srgbClr val="8A87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SETUP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6496481" y="914400"/>
            <a:ext cx="648519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54" dirty="0">
                <a:solidFill>
                  <a:srgbClr val="8A87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02 / 10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219200" y="1725885"/>
            <a:ext cx="16325088" cy="179367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200" kern="0" spc="72" dirty="0">
                <a:solidFill>
                  <a:srgbClr val="F2F0EC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PROBLEM &amp; RESEARCH QUESTIONS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219200" y="3824362"/>
            <a:ext cx="16325088" cy="4342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C9C6B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Why this matters and what I asked.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219200" y="4753942"/>
            <a:ext cx="15849600" cy="3546872"/>
          </a:xfrm>
          <a:prstGeom prst="roundRect">
            <a:avLst>
              <a:gd name="adj" fmla="val 1074"/>
            </a:avLst>
          </a:prstGeom>
          <a:solidFill>
            <a:srgbClr val="14171A"/>
          </a:solidFill>
        </p:spPr>
      </p:sp>
      <p:sp>
        <p:nvSpPr>
          <p:cNvPr id="7" name="Text 5"/>
          <p:cNvSpPr/>
          <p:nvPr/>
        </p:nvSpPr>
        <p:spPr>
          <a:xfrm>
            <a:off x="1668780" y="5287342"/>
            <a:ext cx="15069312" cy="4342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C9C6B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Manual counting is slow and inconsistent. Three concrete hypotheses: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668780" y="5893073"/>
            <a:ext cx="14866620" cy="191244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C9C6B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Do pretrained models always beat a custom baseline?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C9C6B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Does augmentation actually help at this data scale?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C9C6B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Does YOLO counting beat naive predictors?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19200" y="9132615"/>
            <a:ext cx="1074986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243" dirty="0">
                <a:solidFill>
                  <a:srgbClr val="8A87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~ 40 SEC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0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914400"/>
            <a:ext cx="1042095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243" dirty="0">
                <a:solidFill>
                  <a:srgbClr val="8A87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DATASET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6496481" y="914400"/>
            <a:ext cx="648519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54" dirty="0">
                <a:solidFill>
                  <a:srgbClr val="8A87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03 / 10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219200" y="1687785"/>
            <a:ext cx="16325088" cy="9158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200" kern="0" spc="72" dirty="0">
                <a:solidFill>
                  <a:srgbClr val="F2F0EC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WAID + COCO 2017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219200" y="2870374"/>
            <a:ext cx="16325088" cy="4342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C9C6B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Merged into one livestock corpus.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219200" y="3723754"/>
            <a:ext cx="15849600" cy="5408861"/>
          </a:xfrm>
          <a:prstGeom prst="roundRect">
            <a:avLst>
              <a:gd name="adj" fmla="val 704"/>
            </a:avLst>
          </a:prstGeom>
          <a:solidFill>
            <a:srgbClr val="14171A"/>
          </a:solidFill>
        </p:spPr>
      </p:sp>
      <p:sp>
        <p:nvSpPr>
          <p:cNvPr id="7" name="Text 5"/>
          <p:cNvSpPr/>
          <p:nvPr/>
        </p:nvSpPr>
        <p:spPr>
          <a:xfrm>
            <a:off x="2133600" y="4390504"/>
            <a:ext cx="14764512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C9C6B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WAID drones — </a:t>
            </a:r>
            <a:r>
              <a:rPr lang="en-US" sz="2250" dirty="0">
                <a:solidFill>
                  <a:srgbClr val="F2F0EC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14,366 </a:t>
            </a:r>
            <a:r>
              <a:rPr lang="en-US" sz="2250" dirty="0">
                <a:solidFill>
                  <a:srgbClr val="C9C6B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images (4 non‑farm classes dropped)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2133600" y="5057254"/>
            <a:ext cx="14764512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C9C6B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COCO 2017 cow + sheep — </a:t>
            </a:r>
            <a:r>
              <a:rPr lang="en-US" sz="2250" dirty="0">
                <a:solidFill>
                  <a:srgbClr val="F2F0EC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3,393 </a:t>
            </a:r>
            <a:r>
              <a:rPr lang="en-US" sz="2250" dirty="0">
                <a:solidFill>
                  <a:srgbClr val="C9C6B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ground‑level images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2133600" y="5724004"/>
            <a:ext cx="14764512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C9C6B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Clean total — </a:t>
            </a:r>
            <a:r>
              <a:rPr lang="en-US" sz="2250" dirty="0">
                <a:solidFill>
                  <a:srgbClr val="F2F0EC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12,232 </a:t>
            </a:r>
            <a:r>
              <a:rPr lang="en-US" sz="2250" dirty="0">
                <a:solidFill>
                  <a:srgbClr val="C9C6B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images, stratified </a:t>
            </a:r>
            <a:r>
              <a:rPr lang="en-US" sz="2250" dirty="0">
                <a:solidFill>
                  <a:srgbClr val="F2F0EC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70 / 15 / 15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2133600" y="6390754"/>
            <a:ext cx="14764512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F2F0EC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51,320 </a:t>
            </a:r>
            <a:r>
              <a:rPr lang="en-US" sz="2250" dirty="0">
                <a:solidFill>
                  <a:srgbClr val="C9C6B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single‑animal crops · </a:t>
            </a:r>
            <a:r>
              <a:rPr lang="en-US" sz="2250" dirty="0">
                <a:solidFill>
                  <a:srgbClr val="C8FF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52% cattle </a:t>
            </a:r>
            <a:r>
              <a:rPr lang="en-US" sz="2250" dirty="0">
                <a:solidFill>
                  <a:srgbClr val="C9C6B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/ 48% sheep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219200" y="9132615"/>
            <a:ext cx="1074986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243" dirty="0">
                <a:solidFill>
                  <a:srgbClr val="8A87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~ 40 SEC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0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914400"/>
            <a:ext cx="1745382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243" dirty="0">
                <a:solidFill>
                  <a:srgbClr val="8A87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METHODOLOGY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6496481" y="914400"/>
            <a:ext cx="648519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54" dirty="0">
                <a:solidFill>
                  <a:srgbClr val="8A87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04 / 10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219200" y="1687785"/>
            <a:ext cx="16325088" cy="179367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200" kern="0" spc="72" dirty="0">
                <a:solidFill>
                  <a:srgbClr val="F2F0EC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FOUR CLASSIFIERS, ONE DETECTOR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219200" y="3748162"/>
            <a:ext cx="16325088" cy="4342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C9C6B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Optuna‑tuned. Identical splits across all models.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219200" y="4601542"/>
            <a:ext cx="7734300" cy="4531072"/>
          </a:xfrm>
          <a:prstGeom prst="roundRect">
            <a:avLst>
              <a:gd name="adj" fmla="val 841"/>
            </a:avLst>
          </a:prstGeom>
          <a:solidFill>
            <a:srgbClr val="14171A"/>
          </a:solidFill>
        </p:spPr>
      </p:sp>
      <p:sp>
        <p:nvSpPr>
          <p:cNvPr id="7" name="Text 5"/>
          <p:cNvSpPr/>
          <p:nvPr/>
        </p:nvSpPr>
        <p:spPr>
          <a:xfrm>
            <a:off x="1828800" y="5134942"/>
            <a:ext cx="6710553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243" dirty="0">
                <a:solidFill>
                  <a:srgbClr val="8A87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CLASSIFICATION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133600" y="5717828"/>
            <a:ext cx="6405753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C9C6B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Custom CNN from scratch — </a:t>
            </a:r>
            <a:r>
              <a:rPr lang="en-US" sz="2250" dirty="0">
                <a:solidFill>
                  <a:srgbClr val="F2F0EC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8.8 M </a:t>
            </a:r>
            <a:r>
              <a:rPr lang="en-US" sz="2250" dirty="0">
                <a:solidFill>
                  <a:srgbClr val="C9C6B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params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2133600" y="6384578"/>
            <a:ext cx="6405753" cy="8382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C9C6B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Transfer (frozen) — ResNet50, VGG16, MobileNetV2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2133600" y="7451378"/>
            <a:ext cx="6405753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C9C6B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Optuna HP tuning — 15 / 6 trials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334500" y="4601542"/>
            <a:ext cx="7734300" cy="4531072"/>
          </a:xfrm>
          <a:prstGeom prst="roundRect">
            <a:avLst>
              <a:gd name="adj" fmla="val 841"/>
            </a:avLst>
          </a:prstGeom>
          <a:solidFill>
            <a:srgbClr val="14171A"/>
          </a:solidFill>
        </p:spPr>
      </p:sp>
      <p:sp>
        <p:nvSpPr>
          <p:cNvPr id="12" name="Text 10"/>
          <p:cNvSpPr/>
          <p:nvPr/>
        </p:nvSpPr>
        <p:spPr>
          <a:xfrm>
            <a:off x="9944100" y="5134942"/>
            <a:ext cx="6710553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243" dirty="0">
                <a:solidFill>
                  <a:srgbClr val="8A87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DETECTION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248900" y="5717828"/>
            <a:ext cx="6405753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C9C6B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YOLOv8n on Kaggle T4 · </a:t>
            </a:r>
            <a:r>
              <a:rPr lang="en-US" sz="2250" dirty="0">
                <a:solidFill>
                  <a:srgbClr val="F2F0EC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30 epochs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0248900" y="6384578"/>
            <a:ext cx="6405753" cy="8382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C9C6B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Auto subgroup labels — lighting (HSV) &amp; occlusion (IoU)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219200" y="9132615"/>
            <a:ext cx="1066800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243" dirty="0">
                <a:solidFill>
                  <a:srgbClr val="8A87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~ 45 SEC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0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914400"/>
            <a:ext cx="2963920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243" dirty="0">
                <a:solidFill>
                  <a:srgbClr val="8A87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CLASSIFICATION RESULTS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6496481" y="914400"/>
            <a:ext cx="648519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54" dirty="0">
                <a:solidFill>
                  <a:srgbClr val="8A87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05 / 10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219200" y="1611585"/>
            <a:ext cx="16325088" cy="179367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200" kern="0" spc="72" dirty="0">
                <a:solidFill>
                  <a:srgbClr val="F2F0EC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VGG16 WINS — CUSTOM CNN IS SECOND.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219200" y="3633862"/>
            <a:ext cx="16325088" cy="4342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C9C6B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Same 7,744‑crop test set across all four models.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219200" y="4563442"/>
            <a:ext cx="3790950" cy="2537371"/>
          </a:xfrm>
          <a:prstGeom prst="roundRect">
            <a:avLst>
              <a:gd name="adj" fmla="val 1502"/>
            </a:avLst>
          </a:prstGeom>
          <a:solidFill>
            <a:srgbClr val="14171A"/>
          </a:solidFill>
        </p:spPr>
      </p:sp>
      <p:sp>
        <p:nvSpPr>
          <p:cNvPr id="7" name="Text 5"/>
          <p:cNvSpPr/>
          <p:nvPr/>
        </p:nvSpPr>
        <p:spPr>
          <a:xfrm>
            <a:off x="1562100" y="4982542"/>
            <a:ext cx="3198305" cy="9525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200" kern="0" spc="-72" dirty="0">
                <a:solidFill>
                  <a:srgbClr val="C8FF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97.38 </a:t>
            </a:r>
            <a:r>
              <a:rPr lang="en-US" sz="4200" kern="0" spc="-72" dirty="0">
                <a:solidFill>
                  <a:srgbClr val="8A87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%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1562100" y="6106492"/>
            <a:ext cx="3198305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243" dirty="0">
                <a:solidFill>
                  <a:srgbClr val="8A87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VGG16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562100" y="6441728"/>
            <a:ext cx="3198305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5A585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203 errors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238750" y="4563442"/>
            <a:ext cx="3790950" cy="2537371"/>
          </a:xfrm>
          <a:prstGeom prst="roundRect">
            <a:avLst>
              <a:gd name="adj" fmla="val 1502"/>
            </a:avLst>
          </a:prstGeom>
          <a:solidFill>
            <a:srgbClr val="14171A"/>
          </a:solidFill>
        </p:spPr>
      </p:sp>
      <p:sp>
        <p:nvSpPr>
          <p:cNvPr id="11" name="Text 9"/>
          <p:cNvSpPr/>
          <p:nvPr/>
        </p:nvSpPr>
        <p:spPr>
          <a:xfrm>
            <a:off x="5581650" y="4982542"/>
            <a:ext cx="3198305" cy="9525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200" kern="0" spc="-72" dirty="0">
                <a:solidFill>
                  <a:srgbClr val="F2F0EC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96.10 </a:t>
            </a:r>
            <a:r>
              <a:rPr lang="en-US" sz="4200" kern="0" spc="-72" dirty="0">
                <a:solidFill>
                  <a:srgbClr val="8A87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%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5581650" y="6106492"/>
            <a:ext cx="3198305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243" dirty="0">
                <a:solidFill>
                  <a:srgbClr val="8A87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CUSTOM CNN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581650" y="6441728"/>
            <a:ext cx="3198305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5A585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302 errors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258300" y="4563442"/>
            <a:ext cx="3790950" cy="2537371"/>
          </a:xfrm>
          <a:prstGeom prst="roundRect">
            <a:avLst>
              <a:gd name="adj" fmla="val 1502"/>
            </a:avLst>
          </a:prstGeom>
          <a:solidFill>
            <a:srgbClr val="14171A"/>
          </a:solidFill>
        </p:spPr>
      </p:sp>
      <p:sp>
        <p:nvSpPr>
          <p:cNvPr id="15" name="Text 13"/>
          <p:cNvSpPr/>
          <p:nvPr/>
        </p:nvSpPr>
        <p:spPr>
          <a:xfrm>
            <a:off x="9601200" y="4982542"/>
            <a:ext cx="3198305" cy="9525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200" kern="0" spc="-72" dirty="0">
                <a:solidFill>
                  <a:srgbClr val="F2F0EC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95.70 </a:t>
            </a:r>
            <a:r>
              <a:rPr lang="en-US" sz="4200" kern="0" spc="-72" dirty="0">
                <a:solidFill>
                  <a:srgbClr val="8A87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%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9601200" y="6106492"/>
            <a:ext cx="3198305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243" dirty="0">
                <a:solidFill>
                  <a:srgbClr val="8A87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RESNET50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601200" y="6441728"/>
            <a:ext cx="3198305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5A585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333 errors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13277850" y="4563442"/>
            <a:ext cx="3790950" cy="2537371"/>
          </a:xfrm>
          <a:prstGeom prst="roundRect">
            <a:avLst>
              <a:gd name="adj" fmla="val 1502"/>
            </a:avLst>
          </a:prstGeom>
          <a:solidFill>
            <a:srgbClr val="14171A"/>
          </a:solidFill>
        </p:spPr>
      </p:sp>
      <p:sp>
        <p:nvSpPr>
          <p:cNvPr id="19" name="Text 17"/>
          <p:cNvSpPr/>
          <p:nvPr/>
        </p:nvSpPr>
        <p:spPr>
          <a:xfrm>
            <a:off x="13620750" y="4982542"/>
            <a:ext cx="3198305" cy="9525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200" kern="0" spc="-72" dirty="0">
                <a:solidFill>
                  <a:srgbClr val="F2F0EC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94.98 </a:t>
            </a:r>
            <a:r>
              <a:rPr lang="en-US" sz="4200" kern="0" spc="-72" dirty="0">
                <a:solidFill>
                  <a:srgbClr val="8A87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%</a:t>
            </a:r>
            <a:endParaRPr lang="en-US" sz="7200" dirty="0"/>
          </a:p>
        </p:txBody>
      </p:sp>
      <p:sp>
        <p:nvSpPr>
          <p:cNvPr id="20" name="Text 18"/>
          <p:cNvSpPr/>
          <p:nvPr/>
        </p:nvSpPr>
        <p:spPr>
          <a:xfrm>
            <a:off x="13620750" y="6106492"/>
            <a:ext cx="3198305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243" dirty="0">
                <a:solidFill>
                  <a:srgbClr val="8A87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MOBILENETV2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3620750" y="6441728"/>
            <a:ext cx="3198305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5A585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389 errors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219200" y="9132615"/>
            <a:ext cx="1073125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243" dirty="0">
                <a:solidFill>
                  <a:srgbClr val="8A87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~ 60 SEC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0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914400"/>
            <a:ext cx="3958638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243" dirty="0">
                <a:solidFill>
                  <a:srgbClr val="8A87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CONFUSION MATRICES · 4 MODELS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6496481" y="914400"/>
            <a:ext cx="648519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54" dirty="0">
                <a:solidFill>
                  <a:srgbClr val="8A87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06 / 10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219200" y="1459185"/>
            <a:ext cx="16325088" cy="69644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400" kern="0" spc="54" dirty="0">
                <a:solidFill>
                  <a:srgbClr val="F2F0EC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ERRORS ARE ROUGHLY SYMMETRIC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219200" y="2269927"/>
            <a:ext cx="16325088" cy="4342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C9C6B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Same test set (7,744 crops) — no class is dominant.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219200" y="2970907"/>
            <a:ext cx="15849600" cy="5933108"/>
          </a:xfrm>
          <a:prstGeom prst="roundRect">
            <a:avLst>
              <a:gd name="adj" fmla="val 642"/>
            </a:avLst>
          </a:prstGeom>
          <a:solidFill>
            <a:srgbClr val="14171A"/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2100" y="3993282"/>
            <a:ext cx="15163800" cy="388835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19200" y="9132615"/>
            <a:ext cx="1054819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243" dirty="0">
                <a:solidFill>
                  <a:srgbClr val="8A87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~ 25 SEC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0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914400"/>
            <a:ext cx="4077516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243" dirty="0">
                <a:solidFill>
                  <a:srgbClr val="8A87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DETECTION &amp; COUNTING · YOLOV8N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6496481" y="914400"/>
            <a:ext cx="648519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54" dirty="0">
                <a:solidFill>
                  <a:srgbClr val="8A87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07 / 10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219200" y="1611585"/>
            <a:ext cx="16325088" cy="179367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200" kern="0" spc="72" dirty="0">
                <a:solidFill>
                  <a:srgbClr val="F2F0EC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STRONG OVERALL — WEAK UNDER CROWDING.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1219200" y="3900562"/>
            <a:ext cx="3790950" cy="2537371"/>
          </a:xfrm>
          <a:prstGeom prst="roundRect">
            <a:avLst>
              <a:gd name="adj" fmla="val 1502"/>
            </a:avLst>
          </a:prstGeom>
          <a:solidFill>
            <a:srgbClr val="14171A"/>
          </a:solidFill>
        </p:spPr>
      </p:sp>
      <p:sp>
        <p:nvSpPr>
          <p:cNvPr id="6" name="Text 4"/>
          <p:cNvSpPr/>
          <p:nvPr/>
        </p:nvSpPr>
        <p:spPr>
          <a:xfrm>
            <a:off x="1562100" y="4319662"/>
            <a:ext cx="3198305" cy="9525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200" kern="0" spc="-72" dirty="0">
                <a:solidFill>
                  <a:srgbClr val="F2F0EC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94.78 </a:t>
            </a:r>
            <a:r>
              <a:rPr lang="en-US" sz="4200" kern="0" spc="-72" dirty="0">
                <a:solidFill>
                  <a:srgbClr val="8A87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%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1562100" y="5443612"/>
            <a:ext cx="3198305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243" dirty="0">
                <a:solidFill>
                  <a:srgbClr val="8A87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MAP @ 0.5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562100" y="5778847"/>
            <a:ext cx="3198305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5A585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1,835 images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238750" y="3900562"/>
            <a:ext cx="3790950" cy="2537371"/>
          </a:xfrm>
          <a:prstGeom prst="roundRect">
            <a:avLst>
              <a:gd name="adj" fmla="val 1502"/>
            </a:avLst>
          </a:prstGeom>
          <a:solidFill>
            <a:srgbClr val="14171A"/>
          </a:solidFill>
        </p:spPr>
      </p:sp>
      <p:sp>
        <p:nvSpPr>
          <p:cNvPr id="10" name="Text 8"/>
          <p:cNvSpPr/>
          <p:nvPr/>
        </p:nvSpPr>
        <p:spPr>
          <a:xfrm>
            <a:off x="5581650" y="4319662"/>
            <a:ext cx="3198305" cy="9525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200" kern="0" spc="-72" dirty="0">
                <a:solidFill>
                  <a:srgbClr val="F2F0EC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60.07 </a:t>
            </a:r>
            <a:r>
              <a:rPr lang="en-US" sz="4200" kern="0" spc="-72" dirty="0">
                <a:solidFill>
                  <a:srgbClr val="8A87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%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5581650" y="5443612"/>
            <a:ext cx="3198305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243" dirty="0">
                <a:solidFill>
                  <a:srgbClr val="8A87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MAP @ 0.5–0.95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581650" y="5778847"/>
            <a:ext cx="3198305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5A585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strict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258300" y="3900562"/>
            <a:ext cx="3790950" cy="2537371"/>
          </a:xfrm>
          <a:prstGeom prst="roundRect">
            <a:avLst>
              <a:gd name="adj" fmla="val 1502"/>
            </a:avLst>
          </a:prstGeom>
          <a:solidFill>
            <a:srgbClr val="14171A"/>
          </a:solidFill>
        </p:spPr>
      </p:sp>
      <p:sp>
        <p:nvSpPr>
          <p:cNvPr id="14" name="Text 12"/>
          <p:cNvSpPr/>
          <p:nvPr/>
        </p:nvSpPr>
        <p:spPr>
          <a:xfrm>
            <a:off x="9601200" y="4319662"/>
            <a:ext cx="3198305" cy="9525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200" kern="0" spc="-72" dirty="0">
                <a:solidFill>
                  <a:srgbClr val="C8FF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1.58</a:t>
            </a:r>
            <a:endParaRPr lang="en-US" sz="7200" dirty="0"/>
          </a:p>
        </p:txBody>
      </p:sp>
      <p:sp>
        <p:nvSpPr>
          <p:cNvPr id="15" name="Text 13"/>
          <p:cNvSpPr/>
          <p:nvPr/>
        </p:nvSpPr>
        <p:spPr>
          <a:xfrm>
            <a:off x="9601200" y="5443612"/>
            <a:ext cx="3198305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243" dirty="0">
                <a:solidFill>
                  <a:srgbClr val="8A87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MAE PER IMAGE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601200" y="5778847"/>
            <a:ext cx="3198305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5A585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naive: 11.96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13277850" y="3900562"/>
            <a:ext cx="3790950" cy="2537371"/>
          </a:xfrm>
          <a:prstGeom prst="roundRect">
            <a:avLst>
              <a:gd name="adj" fmla="val 1502"/>
            </a:avLst>
          </a:prstGeom>
          <a:solidFill>
            <a:srgbClr val="14171A"/>
          </a:solidFill>
        </p:spPr>
      </p:sp>
      <p:sp>
        <p:nvSpPr>
          <p:cNvPr id="18" name="Text 16"/>
          <p:cNvSpPr/>
          <p:nvPr/>
        </p:nvSpPr>
        <p:spPr>
          <a:xfrm>
            <a:off x="13620750" y="4319662"/>
            <a:ext cx="3198305" cy="9525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200" kern="0" spc="-72" dirty="0">
                <a:solidFill>
                  <a:srgbClr val="F2F0EC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0.97</a:t>
            </a:r>
            <a:endParaRPr lang="en-US" sz="7200" dirty="0"/>
          </a:p>
        </p:txBody>
      </p:sp>
      <p:sp>
        <p:nvSpPr>
          <p:cNvPr id="19" name="Text 17"/>
          <p:cNvSpPr/>
          <p:nvPr/>
        </p:nvSpPr>
        <p:spPr>
          <a:xfrm>
            <a:off x="13620750" y="5443612"/>
            <a:ext cx="3198305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243" dirty="0">
                <a:solidFill>
                  <a:srgbClr val="8A87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R² · PRED VS TRUE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3620750" y="5778847"/>
            <a:ext cx="3198305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5A5852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exact match: 47%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219200" y="9132615"/>
            <a:ext cx="1078706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243" dirty="0">
                <a:solidFill>
                  <a:srgbClr val="8A87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~ 50 SEC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0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914400"/>
            <a:ext cx="2909807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 kern="0" spc="243" dirty="0">
                <a:solidFill>
                  <a:srgbClr val="8A87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HYPOTHESES </a:t>
            </a:r>
            <a:r>
              <a:rPr lang="en-US" sz="1350" kern="0" spc="243" dirty="0">
                <a:solidFill>
                  <a:srgbClr val="8A87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· RESOLVED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6496481" y="914400"/>
            <a:ext cx="648519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54" dirty="0">
                <a:solidFill>
                  <a:srgbClr val="8A87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08 / 10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219200" y="1611585"/>
            <a:ext cx="16325088" cy="255828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300" kern="0" spc="63" dirty="0">
                <a:solidFill>
                  <a:srgbClr val="F2F0EC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PRETRAINED DOES </a:t>
            </a:r>
            <a:r>
              <a:rPr lang="en-US" sz="6300" kern="0" spc="63" dirty="0">
                <a:solidFill>
                  <a:srgbClr val="C8FF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NOT </a:t>
            </a:r>
            <a:r>
              <a:rPr lang="en-US" sz="6300" kern="0" spc="63" dirty="0">
                <a:solidFill>
                  <a:srgbClr val="F2F0EC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AUTOMATICALLY WIN. </a:t>
            </a:r>
            <a:r>
              <a:rPr lang="en-US" sz="3900" kern="0" spc="63" dirty="0">
                <a:solidFill>
                  <a:srgbClr val="8A87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HOW YOU TRAIN MATTERS MORE THAN WHAT YOU TRAIN.</a:t>
            </a:r>
            <a:endParaRPr lang="en-US" sz="6300" dirty="0"/>
          </a:p>
        </p:txBody>
      </p:sp>
      <p:sp>
        <p:nvSpPr>
          <p:cNvPr id="5" name="Shape 3"/>
          <p:cNvSpPr/>
          <p:nvPr/>
        </p:nvSpPr>
        <p:spPr>
          <a:xfrm>
            <a:off x="1219200" y="4474666"/>
            <a:ext cx="5143500" cy="2403053"/>
          </a:xfrm>
          <a:prstGeom prst="roundRect">
            <a:avLst>
              <a:gd name="adj" fmla="val 1585"/>
            </a:avLst>
          </a:prstGeom>
          <a:solidFill>
            <a:srgbClr val="14171A"/>
          </a:solidFill>
        </p:spPr>
      </p:sp>
      <p:sp>
        <p:nvSpPr>
          <p:cNvPr id="6" name="Text 4"/>
          <p:cNvSpPr/>
          <p:nvPr/>
        </p:nvSpPr>
        <p:spPr>
          <a:xfrm>
            <a:off x="1600200" y="4817566"/>
            <a:ext cx="4512945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243" dirty="0">
                <a:solidFill>
                  <a:srgbClr val="8A87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H1 · PRETRAINED &gt; BASELINE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600200" y="5190902"/>
            <a:ext cx="4512945" cy="37236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C9C6B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Always beat a custom CNN?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600200" y="5772820"/>
            <a:ext cx="4512945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kern="0" spc="120" dirty="0">
                <a:solidFill>
                  <a:srgbClr val="E8C54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PARTIAL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572250" y="4474666"/>
            <a:ext cx="5143500" cy="2403053"/>
          </a:xfrm>
          <a:prstGeom prst="roundRect">
            <a:avLst>
              <a:gd name="adj" fmla="val 1585"/>
            </a:avLst>
          </a:prstGeom>
          <a:solidFill>
            <a:srgbClr val="14171A"/>
          </a:solidFill>
        </p:spPr>
      </p:sp>
      <p:sp>
        <p:nvSpPr>
          <p:cNvPr id="10" name="Text 8"/>
          <p:cNvSpPr/>
          <p:nvPr/>
        </p:nvSpPr>
        <p:spPr>
          <a:xfrm>
            <a:off x="6953250" y="4817566"/>
            <a:ext cx="4512945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243" dirty="0">
                <a:solidFill>
                  <a:srgbClr val="8A87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H2 · AUGMENTATION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953250" y="5190902"/>
            <a:ext cx="4512945" cy="37236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C9C6B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Helps at this data scale?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6953250" y="5772820"/>
            <a:ext cx="4512945" cy="800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kern="0" spc="120" dirty="0">
                <a:solidFill>
                  <a:srgbClr val="7BD389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SUPPORTED · +0.62 PP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11925300" y="4474666"/>
            <a:ext cx="5143500" cy="2403053"/>
          </a:xfrm>
          <a:prstGeom prst="roundRect">
            <a:avLst>
              <a:gd name="adj" fmla="val 1585"/>
            </a:avLst>
          </a:prstGeom>
          <a:solidFill>
            <a:srgbClr val="14171A"/>
          </a:solidFill>
        </p:spPr>
      </p:sp>
      <p:sp>
        <p:nvSpPr>
          <p:cNvPr id="14" name="Text 12"/>
          <p:cNvSpPr/>
          <p:nvPr/>
        </p:nvSpPr>
        <p:spPr>
          <a:xfrm>
            <a:off x="12306300" y="4817566"/>
            <a:ext cx="4512945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243" dirty="0">
                <a:solidFill>
                  <a:srgbClr val="8A87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H3 · YOLO COUNTING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2306300" y="5190902"/>
            <a:ext cx="4512945" cy="37236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C9C6B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Beats naive predictors?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306300" y="5772820"/>
            <a:ext cx="4512945" cy="800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kern="0" spc="120" dirty="0">
                <a:solidFill>
                  <a:srgbClr val="C8FF3D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STRONGLY SUPPORTED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219200" y="9132615"/>
            <a:ext cx="1070446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243" dirty="0">
                <a:solidFill>
                  <a:srgbClr val="8A87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~ 55 SEC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0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914400"/>
            <a:ext cx="1473622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243" dirty="0">
                <a:solidFill>
                  <a:srgbClr val="8A87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LIMITATIONS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6496481" y="914400"/>
            <a:ext cx="648519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54" dirty="0">
                <a:solidFill>
                  <a:srgbClr val="8A87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09 / 10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219200" y="1687785"/>
            <a:ext cx="16325088" cy="179367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200" kern="0" spc="72" dirty="0">
                <a:solidFill>
                  <a:srgbClr val="F2F0EC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HONEST DEVIATIONS FROM AN IDEAL STUDY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1219200" y="3976762"/>
            <a:ext cx="7734300" cy="5155853"/>
          </a:xfrm>
          <a:prstGeom prst="roundRect">
            <a:avLst>
              <a:gd name="adj" fmla="val 739"/>
            </a:avLst>
          </a:prstGeom>
          <a:solidFill>
            <a:srgbClr val="14171A"/>
          </a:solidFill>
        </p:spPr>
      </p:sp>
      <p:sp>
        <p:nvSpPr>
          <p:cNvPr id="6" name="Text 4"/>
          <p:cNvSpPr/>
          <p:nvPr/>
        </p:nvSpPr>
        <p:spPr>
          <a:xfrm>
            <a:off x="1828800" y="4510162"/>
            <a:ext cx="6710553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243" dirty="0">
                <a:solidFill>
                  <a:srgbClr val="8A87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COMPUTE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628775" y="4978747"/>
            <a:ext cx="6791325" cy="17716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C9C6B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YOLOv8n only — bigger variants triple training time</a:t>
            </a:r>
            <a:endParaRPr lang="en-US" sz="22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C9C6B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Transfer used feature extraction, not fine‑tuning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334500" y="3976762"/>
            <a:ext cx="7734300" cy="5155853"/>
          </a:xfrm>
          <a:prstGeom prst="roundRect">
            <a:avLst>
              <a:gd name="adj" fmla="val 739"/>
            </a:avLst>
          </a:prstGeom>
          <a:solidFill>
            <a:srgbClr val="14171A"/>
          </a:solidFill>
        </p:spPr>
      </p:sp>
      <p:sp>
        <p:nvSpPr>
          <p:cNvPr id="9" name="Text 7"/>
          <p:cNvSpPr/>
          <p:nvPr/>
        </p:nvSpPr>
        <p:spPr>
          <a:xfrm>
            <a:off x="9944100" y="4510162"/>
            <a:ext cx="6710553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243" dirty="0">
                <a:solidFill>
                  <a:srgbClr val="8A87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METHODOLOGY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744075" y="4978747"/>
            <a:ext cx="6791325" cy="21717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C9C6B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Optuna budget — 15 / 6 trials (importance had stabilised)</a:t>
            </a:r>
            <a:endParaRPr lang="en-US" sz="22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C9C6B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Subgroup labels auto‑generated, not human‑annotated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219200" y="9132615"/>
            <a:ext cx="1069777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243" dirty="0">
                <a:solidFill>
                  <a:srgbClr val="8A87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~ 30 SEC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0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914400"/>
            <a:ext cx="3580081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243" dirty="0">
                <a:solidFill>
                  <a:srgbClr val="8A87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CONCLUSIONS &amp; FUTURE WORK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6496481" y="914400"/>
            <a:ext cx="648519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54" dirty="0">
                <a:solidFill>
                  <a:srgbClr val="8A87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10 / 10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219200" y="1459185"/>
            <a:ext cx="16325088" cy="9158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200" kern="0" spc="72" dirty="0">
                <a:solidFill>
                  <a:srgbClr val="F2F0EC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THREE TAKEAWAYS.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059180" y="2679874"/>
            <a:ext cx="14523720" cy="191244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C9C6B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 small CNN from scratch is competitive on a non‑ImageNet domain.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C9C6B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Learning rate beats architecture.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C9C6B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Occlusion, not lighting, is the counting bottleneck.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219200" y="4897115"/>
            <a:ext cx="15849600" cy="1855366"/>
          </a:xfrm>
          <a:prstGeom prst="roundRect">
            <a:avLst>
              <a:gd name="adj" fmla="val 2054"/>
            </a:avLst>
          </a:prstGeom>
          <a:solidFill>
            <a:srgbClr val="14171A"/>
          </a:solidFill>
        </p:spPr>
      </p:sp>
      <p:sp>
        <p:nvSpPr>
          <p:cNvPr id="7" name="Text 5"/>
          <p:cNvSpPr/>
          <p:nvPr/>
        </p:nvSpPr>
        <p:spPr>
          <a:xfrm>
            <a:off x="1828800" y="5430515"/>
            <a:ext cx="15069312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243" dirty="0">
                <a:solidFill>
                  <a:srgbClr val="8A87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NEXT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828800" y="5822900"/>
            <a:ext cx="15069312" cy="4342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C9C6B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YOLOv8s / v11 · fine‑tuning ResNet &amp; MobileNet · density‑based counting for dense herds.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19200" y="8625855"/>
            <a:ext cx="3633197" cy="78484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4200" kern="0" spc="168" dirty="0">
                <a:solidFill>
                  <a:srgbClr val="8A87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QUESTIONS?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16496481" y="8879235"/>
            <a:ext cx="648519" cy="278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54" dirty="0">
                <a:solidFill>
                  <a:srgbClr val="8A87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10 / 10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2586</Words>
  <Application>WPS Presentation</Application>
  <PresentationFormat>On-screen Show (16:9)</PresentationFormat>
  <Paragraphs>208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SimSun</vt:lpstr>
      <vt:lpstr>Wingdings</vt:lpstr>
      <vt:lpstr>Arial</vt:lpstr>
      <vt:lpstr>Arial</vt:lpstr>
      <vt:lpstr>Calibri</vt:lpstr>
      <vt:lpstr>Helvetica Neue</vt:lpstr>
      <vt:lpstr>Microsoft YaHei</vt:lpstr>
      <vt:lpstr>汉仪旗黑</vt:lpstr>
      <vt:lpstr>Arial Unicode MS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Антон Иванов</cp:lastModifiedBy>
  <cp:revision>2</cp:revision>
  <dcterms:created xsi:type="dcterms:W3CDTF">2026-05-04T14:16:34Z</dcterms:created>
  <dcterms:modified xsi:type="dcterms:W3CDTF">2026-05-04T14:16:34Z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97474D57477AA5B642AAF869DE14FE82_42</vt:lpwstr>
  </property>
  <property fmtid="{D5CDD505-2E9C-101B-9397-08002B2CF9AE}" pid="3" name="KSOProductBuildVer">
    <vt:lpwstr>1033-12.1.25867.25867</vt:lpwstr>
  </property>
</Properties>
</file>